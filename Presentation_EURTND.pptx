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464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Taux de Change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EUR/TND par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ML End-to-End  ·  Prévision de série temporelle financière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4572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Selma Hibe  &amp;  Cherchir Aya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 ·  Random Forest  ·  XGBoost  ·  LightGBM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461772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138160" y="4617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Problème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64008" cy="352044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taux EUR/TND quotidien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(régression)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err="1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r>
              <a:rPr lang="en-US" sz="12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MAE · RMSE · MAPE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2015 – 2025  |  3652jours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Yahoo Finance · BCT · INS Tunisie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64008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59552" y="1508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EUR/TND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19751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A9EB58B-4BF8-F8AD-2C91-9E8CE960E695}"/>
              </a:ext>
            </a:extLst>
          </p:cNvPr>
          <p:cNvSpPr txBox="1"/>
          <p:nvPr/>
        </p:nvSpPr>
        <p:spPr>
          <a:xfrm>
            <a:off x="4544568" y="1869921"/>
            <a:ext cx="4142232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eurtnd</a:t>
            </a:r>
            <a:r>
              <a:rPr lang="fr-FR" sz="1050" dirty="0">
                <a:effectLst/>
              </a:rPr>
              <a:t> : taux de change euro → dinar tunisien (la valeur que tu veux prédire)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eur_usd</a:t>
            </a:r>
            <a:r>
              <a:rPr lang="fr-FR" sz="1050" dirty="0">
                <a:effectLst/>
              </a:rPr>
              <a:t> : taux de change euro → dollar, indicateur de la force de l’euro globalement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brent_oil</a:t>
            </a:r>
            <a:r>
              <a:rPr lang="fr-FR" sz="1050" dirty="0">
                <a:effectLst/>
              </a:rPr>
              <a:t> : prix du pétrole, influence les coûts d’importation et donc le dinar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>
                <a:effectLst/>
              </a:rPr>
              <a:t>gold</a:t>
            </a:r>
            <a:r>
              <a:rPr lang="fr-FR" sz="1050" dirty="0">
                <a:effectLst/>
              </a:rPr>
              <a:t> : prix de l’or, reflète l’incertitude économique mondiale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eur_gbp</a:t>
            </a:r>
            <a:r>
              <a:rPr lang="fr-FR" sz="1050" dirty="0">
                <a:effectLst/>
              </a:rPr>
              <a:t> : taux euro → livre sterling, position relative de l’euro face à une autre grande devise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>
                <a:effectLst/>
              </a:rPr>
              <a:t>us_10y_yield</a:t>
            </a:r>
            <a:r>
              <a:rPr lang="fr-FR" sz="1050" dirty="0">
                <a:effectLst/>
              </a:rPr>
              <a:t> : taux d’intérêt US à 10 ans, attire ou repousse les capitaux mondiaux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msci_em</a:t>
            </a:r>
            <a:r>
              <a:rPr lang="fr-FR" sz="1050" dirty="0">
                <a:effectLst/>
              </a:rPr>
              <a:t> : indice des marchés émergents, mesure la confiance globale dans ces économies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50" b="1" dirty="0" err="1">
                <a:effectLst/>
              </a:rPr>
              <a:t>balance_commerciale</a:t>
            </a:r>
            <a:r>
              <a:rPr lang="fr-FR" sz="1050" dirty="0">
                <a:effectLst/>
              </a:rPr>
              <a:t> : différence exportations-importations de la Tunisie, impact direct sur le dinar</a:t>
            </a:r>
          </a:p>
          <a:p>
            <a:pPr>
              <a:buNone/>
            </a:pPr>
            <a:br>
              <a:rPr lang="fr-FR" sz="1050" dirty="0"/>
            </a:br>
            <a:endParaRPr lang="fr-FR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3258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35508" y="112471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5508" y="1124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2221992"/>
            <a:ext cx="1143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+ BCT/INS</a:t>
            </a:r>
            <a:endParaRPr lang="en-US" sz="10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sur Date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91056" y="2523744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755648" y="960120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755648" y="960120"/>
            <a:ext cx="13258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162556" y="1124712"/>
            <a:ext cx="512064" cy="51206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162556" y="1124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19656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18104" y="2523744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82696" y="960120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82696" y="960120"/>
            <a:ext cx="13258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89604" y="1124712"/>
            <a:ext cx="512064" cy="51206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89604" y="1124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46704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74136" y="2221992"/>
            <a:ext cx="1143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lags · MA ·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</a:t>
            </a:r>
            <a:endParaRPr lang="en-US" sz="10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proxy · Rend.</a:t>
            </a:r>
          </a:p>
          <a:p>
            <a:pPr marL="0" indent="0" algn="ctr">
              <a:spcAft>
                <a:spcPts val="400"/>
              </a:spcAft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45152" y="2523744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09744" y="960120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09744" y="960120"/>
            <a:ext cx="132588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216652" y="1124712"/>
            <a:ext cx="512064" cy="51206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216652" y="1124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73752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01184" y="2221992"/>
            <a:ext cx="1143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corrélations</a:t>
            </a:r>
            <a:endParaRPr lang="en-US" sz="10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EUR/TND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2523744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336792" y="960120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336792" y="960120"/>
            <a:ext cx="1325880" cy="6400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743700" y="1124712"/>
            <a:ext cx="512064" cy="512064"/>
          </a:xfrm>
          <a:prstGeom prst="ellipse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743700" y="1124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28232" y="2221992"/>
            <a:ext cx="1143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</a:t>
            </a:r>
            <a:endParaRPr lang="en-US" sz="10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chronologique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99248" y="2523744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7732307" y="923544"/>
            <a:ext cx="1325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726680" y="947283"/>
            <a:ext cx="1325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8156096" y="1185906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4" name="Text 42"/>
          <p:cNvSpPr/>
          <p:nvPr/>
        </p:nvSpPr>
        <p:spPr>
          <a:xfrm>
            <a:off x="8156096" y="1179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927848" y="1764792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889513" y="2215662"/>
            <a:ext cx="1143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sur train uniquement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Algorithmes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0116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978408"/>
            <a:ext cx="777240" cy="256032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1737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98424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régularisé</a:t>
            </a:r>
            <a:endParaRPr lang="en-US" sz="10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Baseline interprétable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Simple · Rapide · Interprétable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 capture pas la non-linéarité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8686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377440" y="868680"/>
            <a:ext cx="20116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468880" y="978408"/>
            <a:ext cx="777240" cy="256032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468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14600" y="1874520"/>
            <a:ext cx="1737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468880" y="198424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d'arbres indépendants</a:t>
            </a:r>
            <a:endParaRPr lang="en-US" sz="10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Robuste au surapprentissage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1460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Robuste · Peu de tuning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Plus lent que le boosting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8686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0" y="868680"/>
            <a:ext cx="2011680" cy="6400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978408"/>
            <a:ext cx="777240" cy="256032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66344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1737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63440" y="198424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séquentiel</a:t>
            </a:r>
            <a:endParaRPr lang="en-US" sz="10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State-of-the-art tabular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Performant · Régularisation L1/L2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Plus d'hyperparamètres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8686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766560" y="868680"/>
            <a:ext cx="201168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858000" y="978408"/>
            <a:ext cx="777240" cy="256032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5800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903720" y="1874520"/>
            <a:ext cx="1737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858000" y="198424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</a:t>
            </a:r>
            <a:endParaRPr lang="en-US" sz="10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rapide que XGBoost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0372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Rapide · Performant · Léger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Sensible aux petits datasets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Résultats Comparatifs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 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12344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absolue moyenne (TND)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1234440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240280" y="1234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53512" y="12344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aux grandes erreurs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234440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60520" y="1234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2344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relative (%)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83845"/>
              </p:ext>
            </p:extLst>
          </p:nvPr>
        </p:nvGraphicFramePr>
        <p:xfrm>
          <a:off x="274320" y="1737360"/>
          <a:ext cx="8595360" cy="25786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(TND)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(naïf)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Validation Walk-Forward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3886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RandomizedSearchCV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(5 folds)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 l'ordre chronologique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011680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377440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→ 700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404872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77440" y="2404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→ 0.10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798064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377440" y="27980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127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912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319125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377440" y="3191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 / 12 / -1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584448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377440" y="3584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→ 0.9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3977640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377440" y="39776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→ 0.5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86868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572000" y="868680"/>
            <a:ext cx="64008" cy="388620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54880" y="960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Walk-Forward Validation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13898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 conditions réelles 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sur le passé, prédire le mois suivant, avancer.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240280"/>
            <a:ext cx="2103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0916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(3 ans min)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2240280"/>
            <a:ext cx="822960" cy="50292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90372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30j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2240280"/>
            <a:ext cx="100584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77240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avancer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71800"/>
            <a:ext cx="39776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64608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(opt.) — MAE Walk-Fwd 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2971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~0.0041 TND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566160"/>
            <a:ext cx="39776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64608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— vs Baseline 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−66%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4160520"/>
            <a:ext cx="39776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864608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moyen — par fenêtre : 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— Importance des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eurtnd_lag1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905256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063240" y="905256"/>
            <a:ext cx="5303520" cy="22860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458200" y="8686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243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eurtnd_lag3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280160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063240" y="1280160"/>
            <a:ext cx="3409406" cy="22860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64086" y="12435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618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eurtnd_lag7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63240" y="1655064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063240" y="1655064"/>
            <a:ext cx="2272937" cy="22860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27617" y="16184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19933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eur_usd_lag1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2029968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063240" y="2029968"/>
            <a:ext cx="1704703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59383" y="19933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3682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brent_oil_lag1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63240" y="2404872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063240" y="2404872"/>
            <a:ext cx="1325880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480560" y="23682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2743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gold_lag1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3240" y="2779776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063240" y="2779776"/>
            <a:ext cx="947057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01737" y="2743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1181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eurtnd_ma7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63240" y="3154680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063240" y="3154680"/>
            <a:ext cx="757646" cy="228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912326" y="31181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4930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us_10y_yield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63240" y="3529584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063240" y="3529584"/>
            <a:ext cx="568234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722914" y="3493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38679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dxy_proxy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63240" y="3904488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063240" y="3904488"/>
            <a:ext cx="568234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722914" y="38679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2428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commerciale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63240" y="4279392"/>
            <a:ext cx="5303520" cy="22860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063240" y="4279392"/>
            <a:ext cx="378823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533503" y="42428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39496" y="4636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EUR/TND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4663440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688336" y="4636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(Brent, USD…)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4663440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37176" y="4636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dérivées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66560" y="4663440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986016" y="4636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492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229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38160" y="4709160"/>
            <a:ext cx="457200" cy="3200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13816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3520440"/>
          </a:xfrm>
          <a:prstGeom prst="rect">
            <a:avLst/>
          </a:prstGeom>
          <a:solidFill>
            <a:srgbClr val="2A3A6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Résultats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LightGBM = meilleur modèle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MAE ≈ 0.0039 TND (−68% vs baseline)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Lags EUR/TND = features #1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3520440"/>
          </a:xfrm>
          <a:prstGeom prst="rect">
            <a:avLst/>
          </a:prstGeom>
          <a:solidFill>
            <a:srgbClr val="2A3A6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743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Enseignements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Split chronologique indispensable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 lags capturent l'autocorrélation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697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Boosting &gt; Bagging &gt; Linéaire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868680"/>
            <a:ext cx="2743200" cy="3520440"/>
          </a:xfrm>
          <a:prstGeom prst="rect">
            <a:avLst/>
          </a:prstGeom>
          <a:solidFill>
            <a:srgbClr val="2A3A6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6364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Perspectives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LSTM/GRU pour mémoire longue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de sentiment (presse, BCT)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de prédiction temps réel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716</Words>
  <Application>Microsoft Office PowerPoint</Application>
  <PresentationFormat>Affichage à l'écran (16:9)</PresentationFormat>
  <Paragraphs>194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EUR/TND — Soutenance</dc:title>
  <dc:subject>PptxGenJS Presentation</dc:subject>
  <dc:creator>PptxGenJS</dc:creator>
  <cp:lastModifiedBy>Aya Cherchir</cp:lastModifiedBy>
  <cp:revision>3</cp:revision>
  <dcterms:created xsi:type="dcterms:W3CDTF">2026-04-14T14:18:44Z</dcterms:created>
  <dcterms:modified xsi:type="dcterms:W3CDTF">2026-04-14T15:13:43Z</dcterms:modified>
</cp:coreProperties>
</file>