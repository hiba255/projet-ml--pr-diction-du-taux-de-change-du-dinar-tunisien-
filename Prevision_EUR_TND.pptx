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0" r:id="rId5"/>
    <p:sldId id="261" r:id="rId6"/>
    <p:sldId id="262" r:id="rId7"/>
    <p:sldId id="264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604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81EF3-F33D-0E81-2D42-6CE4AC1F3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A522C8-C02B-500F-1E47-1348F81BD2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4240CC-0080-9824-1319-D767A4D042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7C3C05-1434-93D2-17E1-8DB8E9DBC4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3586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943600" cy="514350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4" name="Shape 2"/>
          <p:cNvSpPr/>
          <p:nvPr/>
        </p:nvSpPr>
        <p:spPr>
          <a:xfrm>
            <a:off x="6309360" y="274320"/>
            <a:ext cx="2011680" cy="2011680"/>
          </a:xfrm>
          <a:prstGeom prst="ellipse">
            <a:avLst/>
          </a:prstGeom>
          <a:solidFill>
            <a:srgbClr val="0A7E8C">
              <a:alpha val="20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5" name="Shape 3"/>
          <p:cNvSpPr/>
          <p:nvPr/>
        </p:nvSpPr>
        <p:spPr>
          <a:xfrm>
            <a:off x="7498080" y="1828800"/>
            <a:ext cx="1371600" cy="1371600"/>
          </a:xfrm>
          <a:prstGeom prst="ellipse">
            <a:avLst/>
          </a:prstGeom>
          <a:solidFill>
            <a:srgbClr val="E8A838">
              <a:alpha val="15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6" name="Shape 4"/>
          <p:cNvSpPr/>
          <p:nvPr/>
        </p:nvSpPr>
        <p:spPr>
          <a:xfrm>
            <a:off x="6583680" y="3200400"/>
            <a:ext cx="914400" cy="914400"/>
          </a:xfrm>
          <a:prstGeom prst="ellipse">
            <a:avLst/>
          </a:prstGeom>
          <a:solidFill>
            <a:srgbClr val="D4E2F4">
              <a:alpha val="12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7" name="Shape 5"/>
          <p:cNvSpPr/>
          <p:nvPr/>
        </p:nvSpPr>
        <p:spPr>
          <a:xfrm>
            <a:off x="8229600" y="731520"/>
            <a:ext cx="731520" cy="731520"/>
          </a:xfrm>
          <a:prstGeom prst="ellipse">
            <a:avLst/>
          </a:prstGeom>
          <a:solidFill>
            <a:srgbClr val="E8A838">
              <a:alpha val="18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9" name="Text 6"/>
          <p:cNvSpPr/>
          <p:nvPr/>
        </p:nvSpPr>
        <p:spPr>
          <a:xfrm>
            <a:off x="1005840" y="5029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8A838"/>
                </a:solidFill>
              </a:rPr>
              <a:t>PROJET MACHINE LEARNING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56032" y="1234440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Prévision du Taux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Change EUR/TND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256032" y="32004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E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macroéconomique &amp; apprentissage automatique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4E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(2015–2025)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56032" y="4160520"/>
            <a:ext cx="2286000" cy="36576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3" name="Text 10"/>
          <p:cNvSpPr/>
          <p:nvPr/>
        </p:nvSpPr>
        <p:spPr>
          <a:xfrm>
            <a:off x="256032" y="4297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Selma Hibe  ·  Cherchir Aya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5" name="Text 2"/>
          <p:cNvSpPr/>
          <p:nvPr/>
        </p:nvSpPr>
        <p:spPr>
          <a:xfrm>
            <a:off x="914400" y="25603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PROBLÉMATIQUE &amp; CONTEXTE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1234440"/>
            <a:ext cx="8412480" cy="914400"/>
          </a:xfrm>
          <a:prstGeom prst="rect">
            <a:avLst/>
          </a:prstGeom>
          <a:solidFill>
            <a:srgbClr val="1A3A6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7" name="Text 4"/>
          <p:cNvSpPr/>
          <p:nvPr/>
        </p:nvSpPr>
        <p:spPr>
          <a:xfrm>
            <a:off x="365760" y="123444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Peut-on prédire le taux EUR/TND du lendemain à partir d'indicateurs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macroéconomiques tunisiens et de données de marché mondial ?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65760" y="2331720"/>
            <a:ext cx="393192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9" name="Shape 6"/>
          <p:cNvSpPr/>
          <p:nvPr/>
        </p:nvSpPr>
        <p:spPr>
          <a:xfrm>
            <a:off x="365760" y="2331720"/>
            <a:ext cx="73152" cy="2468880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0" name="Text 7"/>
          <p:cNvSpPr/>
          <p:nvPr/>
        </p:nvSpPr>
        <p:spPr>
          <a:xfrm>
            <a:off x="548640" y="2423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Business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2852928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taux EUR/TND est un indicateur clé pour les entreprises tunisiennes importatrices/exportatrices, les investisseurs et les décideurs économiques.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prévision fiable permet de mieux gérer les risques de change et d'anticiper les mouvements du marché.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63440" y="2331720"/>
            <a:ext cx="411480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13" name="Shape 10"/>
          <p:cNvSpPr/>
          <p:nvPr/>
        </p:nvSpPr>
        <p:spPr>
          <a:xfrm>
            <a:off x="4663440" y="2331720"/>
            <a:ext cx="73152" cy="246888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4" name="Text 11"/>
          <p:cNvSpPr/>
          <p:nvPr/>
        </p:nvSpPr>
        <p:spPr>
          <a:xfrm>
            <a:off x="4846320" y="2423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 Technique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846320" y="2852928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un modèle de régression supervisé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cible : taux EUR/TND journalier (J+1)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 : 2015–2025 (données journalières)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4 algorithmes ML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 les hyperparamètres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5" name="Text 2"/>
          <p:cNvSpPr/>
          <p:nvPr/>
        </p:nvSpPr>
        <p:spPr>
          <a:xfrm>
            <a:off x="914400" y="25603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DE DONNÉES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74320" y="1188720"/>
            <a:ext cx="42062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7" name="Shape 4"/>
          <p:cNvSpPr/>
          <p:nvPr/>
        </p:nvSpPr>
        <p:spPr>
          <a:xfrm>
            <a:off x="274320" y="1188720"/>
            <a:ext cx="4206240" cy="347472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8" name="Text 5"/>
          <p:cNvSpPr/>
          <p:nvPr/>
        </p:nvSpPr>
        <p:spPr>
          <a:xfrm>
            <a:off x="384048" y="120700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Indicateurs Macro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84048" y="1591056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(mensuelle → </a:t>
            </a:r>
            <a:r>
              <a:rPr lang="en-US" sz="9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ffill</a:t>
            </a: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trimestriel → (</a:t>
            </a:r>
            <a:r>
              <a:rPr lang="en-US" sz="9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cubique</a:t>
            </a: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d'intérêt BCT (forward-fill)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commerciale (linéaire)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754880" y="1188720"/>
            <a:ext cx="42062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4754880" y="1188720"/>
            <a:ext cx="4206240" cy="347472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4864608" y="120700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Données de Marché (yfinance)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864608" y="1591056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EUR/USD (taux cambiste mondial)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Brent Oil (matières premières)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— Gold (valeur refuge)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EUR/GBP, US 10Y, MSCI EM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74320" y="3063240"/>
            <a:ext cx="42062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2"/>
          <p:cNvSpPr/>
          <p:nvPr/>
        </p:nvSpPr>
        <p:spPr>
          <a:xfrm>
            <a:off x="274320" y="3063240"/>
            <a:ext cx="4206240" cy="347472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384048" y="308152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 Cible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84048" y="3465576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EUR/TND (Close journalier)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yfinance (EURTND=X)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Décalage J+1 (prédiction demain)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 : 01/01/2015 → 01/01/2025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754880" y="3063240"/>
            <a:ext cx="42062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6"/>
          <p:cNvSpPr/>
          <p:nvPr/>
        </p:nvSpPr>
        <p:spPr>
          <a:xfrm>
            <a:off x="4754880" y="3063240"/>
            <a:ext cx="4206240" cy="347472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4864608" y="308152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Traitement des Données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864608" y="3465576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Forward-fill ≤ 5 jours (week-ends)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des doublons d'index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3 652 observations finales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valeur manquante résiduelle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5" name="Text 2"/>
          <p:cNvSpPr/>
          <p:nvPr/>
        </p:nvSpPr>
        <p:spPr>
          <a:xfrm>
            <a:off x="914400" y="25603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PRÉTRAITEMENT &amp; FEATURE ENGINEERING &amp;</a:t>
            </a:r>
            <a:r>
              <a:rPr lang="en-US" sz="2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Normalisation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1938528" y="2651760"/>
            <a:ext cx="73152" cy="73152"/>
          </a:xfrm>
          <a:prstGeom prst="rect">
            <a:avLst/>
          </a:prstGeom>
          <a:solidFill>
            <a:srgbClr val="8FA8C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2011680" y="1188720"/>
            <a:ext cx="1664208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0"/>
          <p:cNvSpPr/>
          <p:nvPr/>
        </p:nvSpPr>
        <p:spPr>
          <a:xfrm>
            <a:off x="2011680" y="1188720"/>
            <a:ext cx="1664208" cy="54864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4" name="Text 11"/>
          <p:cNvSpPr/>
          <p:nvPr/>
        </p:nvSpPr>
        <p:spPr>
          <a:xfrm>
            <a:off x="2011680" y="11887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2514600" y="1188720"/>
            <a:ext cx="1161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Lags EUR/TND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121408" y="1847088"/>
            <a:ext cx="1481328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lag1, lag3, lag5,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lag7, lag14, lag30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(série temporelle)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675888" y="2651760"/>
            <a:ext cx="73152" cy="73152"/>
          </a:xfrm>
          <a:prstGeom prst="rect">
            <a:avLst/>
          </a:prstGeom>
          <a:solidFill>
            <a:srgbClr val="8FA8C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5"/>
          <p:cNvSpPr/>
          <p:nvPr/>
        </p:nvSpPr>
        <p:spPr>
          <a:xfrm>
            <a:off x="3749040" y="1188720"/>
            <a:ext cx="1664208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6"/>
          <p:cNvSpPr/>
          <p:nvPr/>
        </p:nvSpPr>
        <p:spPr>
          <a:xfrm>
            <a:off x="3749040" y="1188720"/>
            <a:ext cx="1664208" cy="54864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3749040" y="11887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2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4251960" y="1188720"/>
            <a:ext cx="1161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Rolling Stats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858768" y="1847088"/>
            <a:ext cx="1481328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MA7, MA30, std7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(tendance &amp; volatilité)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413248" y="2651760"/>
            <a:ext cx="73152" cy="73152"/>
          </a:xfrm>
          <a:prstGeom prst="rect">
            <a:avLst/>
          </a:prstGeom>
          <a:solidFill>
            <a:srgbClr val="8FA8C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21"/>
          <p:cNvSpPr/>
          <p:nvPr/>
        </p:nvSpPr>
        <p:spPr>
          <a:xfrm>
            <a:off x="5486400" y="1188720"/>
            <a:ext cx="1664208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2"/>
          <p:cNvSpPr/>
          <p:nvPr/>
        </p:nvSpPr>
        <p:spPr>
          <a:xfrm>
            <a:off x="5486400" y="1188720"/>
            <a:ext cx="1664208" cy="54864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6" name="Text 23"/>
          <p:cNvSpPr/>
          <p:nvPr/>
        </p:nvSpPr>
        <p:spPr>
          <a:xfrm>
            <a:off x="5486400" y="11887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3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5978066" y="1188720"/>
            <a:ext cx="1161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Features </a:t>
            </a:r>
            <a:r>
              <a:rPr lang="en-US" sz="11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temporelles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596128" y="1847088"/>
            <a:ext cx="1481328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</a:t>
            </a:r>
            <a:r>
              <a:rPr lang="en-US" sz="10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saisonnalite</a:t>
            </a:r>
            <a:endParaRPr lang="en-US" sz="1000" dirty="0">
              <a:solidFill>
                <a:srgbClr val="4A55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150608" y="2651760"/>
            <a:ext cx="73152" cy="73152"/>
          </a:xfrm>
          <a:prstGeom prst="rect">
            <a:avLst/>
          </a:prstGeom>
          <a:solidFill>
            <a:srgbClr val="8FA8C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Shape 32"/>
          <p:cNvSpPr/>
          <p:nvPr/>
        </p:nvSpPr>
        <p:spPr>
          <a:xfrm>
            <a:off x="274320" y="4846320"/>
            <a:ext cx="8595360" cy="182880"/>
          </a:xfrm>
          <a:prstGeom prst="rect">
            <a:avLst/>
          </a:prstGeom>
          <a:solidFill>
            <a:srgbClr val="D4E2F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3"/>
          <p:cNvSpPr/>
          <p:nvPr/>
        </p:nvSpPr>
        <p:spPr>
          <a:xfrm>
            <a:off x="274320" y="48280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temporel : 80% entraînement (2015–2023)  ·  20% test (2023–2025)  ·  TimeSeriesSplit pour la validation croisée</a:t>
            </a:r>
            <a:endParaRPr lang="en-US" sz="950" dirty="0"/>
          </a:p>
        </p:txBody>
      </p:sp>
      <p:sp>
        <p:nvSpPr>
          <p:cNvPr id="37" name="Shape 22">
            <a:extLst>
              <a:ext uri="{FF2B5EF4-FFF2-40B4-BE49-F238E27FC236}">
                <a16:creationId xmlns:a16="http://schemas.microsoft.com/office/drawing/2014/main" id="{D3412000-A6AD-283A-33A2-0A189E0C8C41}"/>
              </a:ext>
            </a:extLst>
          </p:cNvPr>
          <p:cNvSpPr/>
          <p:nvPr/>
        </p:nvSpPr>
        <p:spPr>
          <a:xfrm>
            <a:off x="7303008" y="1188720"/>
            <a:ext cx="1664208" cy="54864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  <p:txBody>
          <a:bodyPr/>
          <a:lstStyle/>
          <a:p>
            <a:r>
              <a:rPr lang="fr-FR" dirty="0"/>
              <a:t>c</a:t>
            </a:r>
          </a:p>
        </p:txBody>
      </p:sp>
      <p:sp>
        <p:nvSpPr>
          <p:cNvPr id="42" name="Text 24">
            <a:extLst>
              <a:ext uri="{FF2B5EF4-FFF2-40B4-BE49-F238E27FC236}">
                <a16:creationId xmlns:a16="http://schemas.microsoft.com/office/drawing/2014/main" id="{98C7C247-55CC-1F75-71DC-B022982DBFEA}"/>
              </a:ext>
            </a:extLst>
          </p:cNvPr>
          <p:cNvSpPr/>
          <p:nvPr/>
        </p:nvSpPr>
        <p:spPr>
          <a:xfrm>
            <a:off x="7758332" y="1234440"/>
            <a:ext cx="1055076" cy="446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Nornalisation</a:t>
            </a:r>
            <a:endParaRPr lang="en-US" sz="1100" dirty="0"/>
          </a:p>
        </p:txBody>
      </p:sp>
      <p:sp>
        <p:nvSpPr>
          <p:cNvPr id="45" name="Text 23">
            <a:extLst>
              <a:ext uri="{FF2B5EF4-FFF2-40B4-BE49-F238E27FC236}">
                <a16:creationId xmlns:a16="http://schemas.microsoft.com/office/drawing/2014/main" id="{18FB3D20-92E9-7463-0A84-542411A3B554}"/>
              </a:ext>
            </a:extLst>
          </p:cNvPr>
          <p:cNvSpPr/>
          <p:nvPr/>
        </p:nvSpPr>
        <p:spPr>
          <a:xfrm>
            <a:off x="7255412" y="118344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4</a:t>
            </a:r>
            <a:endParaRPr lang="en-US" sz="2200" dirty="0"/>
          </a:p>
        </p:txBody>
      </p:sp>
      <p:sp>
        <p:nvSpPr>
          <p:cNvPr id="47" name="Shape 21">
            <a:extLst>
              <a:ext uri="{FF2B5EF4-FFF2-40B4-BE49-F238E27FC236}">
                <a16:creationId xmlns:a16="http://schemas.microsoft.com/office/drawing/2014/main" id="{C43942F4-B55E-CD93-613E-8E537CF4EAA2}"/>
              </a:ext>
            </a:extLst>
          </p:cNvPr>
          <p:cNvSpPr/>
          <p:nvPr/>
        </p:nvSpPr>
        <p:spPr>
          <a:xfrm>
            <a:off x="7303008" y="1732084"/>
            <a:ext cx="1664208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9" name="Text 25">
            <a:extLst>
              <a:ext uri="{FF2B5EF4-FFF2-40B4-BE49-F238E27FC236}">
                <a16:creationId xmlns:a16="http://schemas.microsoft.com/office/drawing/2014/main" id="{F29AA556-982F-EC23-1565-310918BE8570}"/>
              </a:ext>
            </a:extLst>
          </p:cNvPr>
          <p:cNvSpPr/>
          <p:nvPr/>
        </p:nvSpPr>
        <p:spPr>
          <a:xfrm>
            <a:off x="7332080" y="1850253"/>
            <a:ext cx="1481328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 ridge</a:t>
            </a:r>
          </a:p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914400" y="25603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MODÉLISATION — COMPARAISON DE 4 ALGORITHMES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74320" y="1143000"/>
            <a:ext cx="210312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274320" y="1143000"/>
            <a:ext cx="2103120" cy="59436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347472" y="117043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Ridge Regression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47472" y="1499616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D4E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Linéaire régularisé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47472" y="18288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Avantages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47472" y="210312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Interprétable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Rapide à entraîner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linéaire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47472" y="30906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5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Limites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47472" y="3364992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Suppositions linéaires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Sensible aux outliers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468880" y="1143000"/>
            <a:ext cx="210312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2"/>
          <p:cNvSpPr/>
          <p:nvPr/>
        </p:nvSpPr>
        <p:spPr>
          <a:xfrm>
            <a:off x="2468880" y="1143000"/>
            <a:ext cx="2103120" cy="594360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2542032" y="117043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2542032" y="1499616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D4E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Ensembliste (Bagging)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2542032" y="18288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Avantages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2542032" y="210312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 aux outliers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non-linéarités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features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542032" y="30906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5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Limites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2542032" y="3364992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Lent sur grands jeux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précis que boosting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663440" y="1143000"/>
            <a:ext cx="210312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0"/>
          <p:cNvSpPr/>
          <p:nvPr/>
        </p:nvSpPr>
        <p:spPr>
          <a:xfrm>
            <a:off x="4663440" y="1143000"/>
            <a:ext cx="2103120" cy="594360"/>
          </a:xfrm>
          <a:prstGeom prst="rect">
            <a:avLst/>
          </a:prstGeom>
          <a:solidFill>
            <a:srgbClr val="E8593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1"/>
          <p:cNvSpPr/>
          <p:nvPr/>
        </p:nvSpPr>
        <p:spPr>
          <a:xfrm>
            <a:off x="4736592" y="117043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736592" y="1499616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D4E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Ensembliste (Boosting)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4736592" y="18288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Avantages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736592" y="210312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tabulaire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Régularisation intégrée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Rapide avec GPU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736592" y="30906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5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Limites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4736592" y="3364992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Nombreux hyperparamètres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overfitting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6858000" y="1143000"/>
            <a:ext cx="210312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8"/>
          <p:cNvSpPr/>
          <p:nvPr/>
        </p:nvSpPr>
        <p:spPr>
          <a:xfrm>
            <a:off x="6858000" y="1143000"/>
            <a:ext cx="2103120" cy="59436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29"/>
          <p:cNvSpPr/>
          <p:nvPr/>
        </p:nvSpPr>
        <p:spPr>
          <a:xfrm>
            <a:off x="6931152" y="117043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LightGBM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6931152" y="1499616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Ensembliste (Boosting)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6931152" y="18288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Avantages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6931152" y="210312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rapide que XGBoost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 mémoire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Excellente précision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6931152" y="30906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5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Limites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6931152" y="3364992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Sensible aux petits jeux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Hyperparamètres complexes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274320" y="493776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naïve (lag-1) utilisée comme référence minimale pour tous les modèles.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914400" y="25603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&amp; OPTIMISATION DES HYPERPARAMÈTRES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5619313"/>
              </p:ext>
            </p:extLst>
          </p:nvPr>
        </p:nvGraphicFramePr>
        <p:xfrm>
          <a:off x="654148" y="1526345"/>
          <a:ext cx="7723164" cy="2989386"/>
        </p:xfrm>
        <a:graphic>
          <a:graphicData uri="http://schemas.openxmlformats.org/drawingml/2006/table">
            <a:tbl>
              <a:tblPr/>
              <a:tblGrid>
                <a:gridCol w="2574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7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8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8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46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82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(TND)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 (%)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2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naïve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0.009811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0.017180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0.293482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Référence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2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optimise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0,004925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0,006775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0,147136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Amélioré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2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0.008924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0.012363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0.266648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2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optimise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0.004813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0.006684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0.143652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Ameliore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82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 Regression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0.001658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0.002368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0.049618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Meilleur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88429-AE3B-08BB-64EB-1545B0689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1C1C66E-61CA-36F3-1C5B-07581BA8F772}"/>
              </a:ext>
            </a:extLst>
          </p:cNvPr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A2D0928-BE56-74DA-29E6-CD9E46EC2B74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0412667-F4BF-6A06-7AF0-683916F1801A}"/>
              </a:ext>
            </a:extLst>
          </p:cNvPr>
          <p:cNvSpPr/>
          <p:nvPr/>
        </p:nvSpPr>
        <p:spPr>
          <a:xfrm>
            <a:off x="914400" y="25603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&amp; OPTIMISATION DES HYPERPARAMÈTRES</a:t>
            </a:r>
            <a:endParaRPr lang="en-US" sz="2200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F250D743-5194-B3B4-3853-61ABCFED22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38540"/>
            <a:ext cx="4424289" cy="314201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64940AFA-03B7-D19F-58EE-43B2733686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410986"/>
            <a:ext cx="4424288" cy="3013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050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356616" y="383345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</a:t>
            </a:r>
            <a:r>
              <a:rPr lang="en-US" b="1" kern="0" spc="100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</a:t>
            </a:r>
            <a:endParaRPr lang="en-US" sz="1800" dirty="0"/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AF1DA9B8-BCB2-A9A6-C0EF-8524F4F53A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133856"/>
            <a:ext cx="4818888" cy="1995573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4BA7DAB4-41EA-5F9F-4863-44B6113F73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3266589"/>
            <a:ext cx="4818888" cy="17884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491</Words>
  <Application>Microsoft Office PowerPoint</Application>
  <PresentationFormat>Affichage à l'écran (16:9)</PresentationFormat>
  <Paragraphs>138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Prévision du Taux de Change EUR/TND — Rapport ML</dc:title>
  <dc:subject>PptxGenJS Presentation</dc:subject>
  <dc:creator>Ben Selma Hibe &amp; Cherchir Aya</dc:creator>
  <cp:lastModifiedBy>Aya Cherchir</cp:lastModifiedBy>
  <cp:revision>2</cp:revision>
  <dcterms:created xsi:type="dcterms:W3CDTF">2026-04-14T22:08:25Z</dcterms:created>
  <dcterms:modified xsi:type="dcterms:W3CDTF">2026-04-15T13:56:19Z</dcterms:modified>
</cp:coreProperties>
</file>